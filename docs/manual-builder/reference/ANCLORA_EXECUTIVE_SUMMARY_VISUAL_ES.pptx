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197397ae340b4" /><Relationship Type="http://schemas.openxmlformats.org/officeDocument/2006/relationships/extended-properties" Target="/docProps/app.xml" Id="R0a0329e4c9544423" /><Relationship Type="http://schemas.openxmlformats.org/officeDocument/2006/relationships/officeDocument" Target="/ppt/presentation.xml" Id="R312fdc50134c4d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b7b2c3cf2a45a8"/>
  </p:sldMasterIdLst>
  <p:notesMasterIdLst>
    <p:notesMasterId xmlns:r="http://schemas.openxmlformats.org/officeDocument/2006/relationships" r:id="R8e677da274e74f5e"/>
  </p:notesMasterIdLst>
  <p:sldIdLst>
    <p:sldId xmlns:r="http://schemas.openxmlformats.org/officeDocument/2006/relationships" id="256" r:id="R44851bd0e9cd48af"/>
    <p:sldId xmlns:r="http://schemas.openxmlformats.org/officeDocument/2006/relationships" id="257" r:id="R32256d418af14cff"/>
    <p:sldId xmlns:r="http://schemas.openxmlformats.org/officeDocument/2006/relationships" id="258" r:id="R289708e447d246c7"/>
    <p:sldId xmlns:r="http://schemas.openxmlformats.org/officeDocument/2006/relationships" id="259" r:id="R517f480a95bd40cf"/>
    <p:sldId xmlns:r="http://schemas.openxmlformats.org/officeDocument/2006/relationships" id="260" r:id="R69a33f0ba9bd41d0"/>
    <p:sldId xmlns:r="http://schemas.openxmlformats.org/officeDocument/2006/relationships" id="261" r:id="R1c2e8cf3e387425d"/>
    <p:sldId xmlns:r="http://schemas.openxmlformats.org/officeDocument/2006/relationships" id="262" r:id="R8ddbdb6f7aa34a3f"/>
    <p:sldId xmlns:r="http://schemas.openxmlformats.org/officeDocument/2006/relationships" id="263" r:id="Rff209d5ecd2048ae"/>
    <p:sldId xmlns:r="http://schemas.openxmlformats.org/officeDocument/2006/relationships" id="264" r:id="Rd149b92f43844ef5"/>
    <p:sldId xmlns:r="http://schemas.openxmlformats.org/officeDocument/2006/relationships" id="265" r:id="Re2a2343fec9e41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e3a4e4a854e5a" /><Relationship Type="http://schemas.openxmlformats.org/officeDocument/2006/relationships/slideMaster" Target="/ppt/slideMasters/slideMaster1.xml" Id="R5eb7b2c3cf2a45a8" /><Relationship Type="http://schemas.openxmlformats.org/officeDocument/2006/relationships/notesMaster" Target="/ppt/notesMasters/notesMaster1.xml" Id="R8e677da274e74f5e" /><Relationship Type="http://schemas.openxmlformats.org/officeDocument/2006/relationships/presProps" Target="/ppt/presProps.xml" Id="R32fa0ba6130b4b9c" /><Relationship Type="http://schemas.openxmlformats.org/officeDocument/2006/relationships/tableStyles" Target="/ppt/tableStyles.xml" Id="Ra5768cf4a38348cc" /><Relationship Type="http://schemas.openxmlformats.org/officeDocument/2006/relationships/slide" Target="/ppt/slides/slide1.xml" Id="R44851bd0e9cd48af" /><Relationship Type="http://schemas.openxmlformats.org/officeDocument/2006/relationships/slide" Target="/ppt/slides/slide2.xml" Id="R32256d418af14cff" /><Relationship Type="http://schemas.openxmlformats.org/officeDocument/2006/relationships/slide" Target="/ppt/slides/slide3.xml" Id="R289708e447d246c7" /><Relationship Type="http://schemas.openxmlformats.org/officeDocument/2006/relationships/slide" Target="/ppt/slides/slide4.xml" Id="R517f480a95bd40cf" /><Relationship Type="http://schemas.openxmlformats.org/officeDocument/2006/relationships/slide" Target="/ppt/slides/slide5.xml" Id="R69a33f0ba9bd41d0" /><Relationship Type="http://schemas.openxmlformats.org/officeDocument/2006/relationships/slide" Target="/ppt/slides/slide6.xml" Id="R1c2e8cf3e387425d" /><Relationship Type="http://schemas.openxmlformats.org/officeDocument/2006/relationships/slide" Target="/ppt/slides/slide7.xml" Id="R8ddbdb6f7aa34a3f" /><Relationship Type="http://schemas.openxmlformats.org/officeDocument/2006/relationships/slide" Target="/ppt/slides/slide8.xml" Id="Rff209d5ecd2048ae" /><Relationship Type="http://schemas.openxmlformats.org/officeDocument/2006/relationships/slide" Target="/ppt/slides/slide9.xml" Id="Rd149b92f43844ef5" /><Relationship Type="http://schemas.openxmlformats.org/officeDocument/2006/relationships/slide" Target="/ppt/slides/slide10.xml" Id="Re2a2343fec9e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f66a2b1bb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bfa01f91c4c33" /><Relationship Type="http://schemas.openxmlformats.org/officeDocument/2006/relationships/notesMaster" Target="/ppt/notesMasters/notesMaster1.xml" Id="R44b45c4044cf42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8c7e59f0294245" /><Relationship Type="http://schemas.openxmlformats.org/officeDocument/2006/relationships/notesMaster" Target="/ppt/notesMasters/notesMaster1.xml" Id="Rff89d2330de340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789a4bdae42c6" /><Relationship Type="http://schemas.openxmlformats.org/officeDocument/2006/relationships/notesMaster" Target="/ppt/notesMasters/notesMaster1.xml" Id="R790bfb43264841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1bc7ad8444249" /><Relationship Type="http://schemas.openxmlformats.org/officeDocument/2006/relationships/notesMaster" Target="/ppt/notesMasters/notesMaster1.xml" Id="Rfe5321cd9cd642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2faed4eab4f02" /><Relationship Type="http://schemas.openxmlformats.org/officeDocument/2006/relationships/notesMaster" Target="/ppt/notesMasters/notesMaster1.xml" Id="Ra35f884263c44f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c89b3beba94ce7" /><Relationship Type="http://schemas.openxmlformats.org/officeDocument/2006/relationships/notesMaster" Target="/ppt/notesMasters/notesMaster1.xml" Id="Rb726f783732b46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a7c43305d14dff" /><Relationship Type="http://schemas.openxmlformats.org/officeDocument/2006/relationships/notesMaster" Target="/ppt/notesMasters/notesMaster1.xml" Id="R086b5b96ea4b46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8afcff62c94d5e" /><Relationship Type="http://schemas.openxmlformats.org/officeDocument/2006/relationships/notesMaster" Target="/ppt/notesMasters/notesMaster1.xml" Id="R33237a737d1448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adf36723bc4ba9" /><Relationship Type="http://schemas.openxmlformats.org/officeDocument/2006/relationships/notesMaster" Target="/ppt/notesMasters/notesMaster1.xml" Id="R6da35c73677745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9aa662ab3b4fc1" /><Relationship Type="http://schemas.openxmlformats.org/officeDocument/2006/relationships/notesMaster" Target="/ppt/notesMasters/notesMaster1.xml" Id="R66786b3476b74a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 4, Taxonomía del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 4, Taxonomía del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páginas 5 y 6, temas, perfiles y arquitectura P-WKS/P-MKT.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 8, Familias de marca.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páginas 5 y 8, temas, perfiles y familias de marca.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 6, Arquitectura visual típica.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 21, Estructura de aplicación y navegación.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Manual V1 revisado, página 24, Patrones compartidos de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comercial derivado de las secciones de taxonomía, familias de marca y arquitectura de producto del Manual V1 revisado.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5d07b8b924c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3d3c3dbeda45b7" /><Relationship Type="http://schemas.openxmlformats.org/officeDocument/2006/relationships/slideLayout" Target="/ppt/slideLayouts/slideLayout1.xml" Id="R10c284f815c347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284f815c3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f85f0b4cf45d1" /><Relationship Type="http://schemas.openxmlformats.org/officeDocument/2006/relationships/image" Target="/ppt/media/image.png" Id="R2f4797a68961476f" /><Relationship Type="http://schemas.openxmlformats.org/officeDocument/2006/relationships/image" Target="/ppt/media/image2.png" Id="R1df30a1f9161453d" /><Relationship Type="http://schemas.openxmlformats.org/officeDocument/2006/relationships/notesSlide" Target="/ppt/notesSlides/notesSlide1.xml" Id="R3c154ed067b144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bbd1f1b441ed" /><Relationship Type="http://schemas.openxmlformats.org/officeDocument/2006/relationships/image" Target="/ppt/media/image3.png" Id="Rfa729e6d733c4a73" /><Relationship Type="http://schemas.openxmlformats.org/officeDocument/2006/relationships/notesSlide" Target="/ppt/notesSlides/notesSlide2.xml" Id="R9ef798d542ff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80262e7cb4747" /><Relationship Type="http://schemas.openxmlformats.org/officeDocument/2006/relationships/image" Target="/ppt/media/image4.png" Id="R6aae420a35504978" /><Relationship Type="http://schemas.openxmlformats.org/officeDocument/2006/relationships/image" Target="/ppt/media/image5.png" Id="R1f454cd6d2714c15" /><Relationship Type="http://schemas.openxmlformats.org/officeDocument/2006/relationships/notesSlide" Target="/ppt/notesSlides/notesSlide3.xml" Id="R154029514d9d49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5720f51b34078" /><Relationship Type="http://schemas.openxmlformats.org/officeDocument/2006/relationships/image" Target="/ppt/media/image6.png" Id="Rfa40eb58b66d4966" /><Relationship Type="http://schemas.openxmlformats.org/officeDocument/2006/relationships/notesSlide" Target="/ppt/notesSlides/notesSlide4.xml" Id="Rbb24938ad87847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8c8f2d8924c31" /><Relationship Type="http://schemas.openxmlformats.org/officeDocument/2006/relationships/image" Target="/ppt/media/image7.png" Id="R6a36498e958d4d9a" /><Relationship Type="http://schemas.openxmlformats.org/officeDocument/2006/relationships/image" Target="/ppt/media/image8.png" Id="R4bd87509c7564839" /><Relationship Type="http://schemas.openxmlformats.org/officeDocument/2006/relationships/notesSlide" Target="/ppt/notesSlides/notesSlide5.xml" Id="R57050d6c981a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420f9ee19414f" /><Relationship Type="http://schemas.openxmlformats.org/officeDocument/2006/relationships/image" Target="/ppt/media/image9.png" Id="Rcef807446adc4955" /><Relationship Type="http://schemas.openxmlformats.org/officeDocument/2006/relationships/notesSlide" Target="/ppt/notesSlides/notesSlide6.xml" Id="Re5750106a10a43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b5f88cf264bfb" /><Relationship Type="http://schemas.openxmlformats.org/officeDocument/2006/relationships/image" Target="/ppt/media/image10.png" Id="R25f0da1e0d944c15" /><Relationship Type="http://schemas.openxmlformats.org/officeDocument/2006/relationships/image" Target="/ppt/media/image11.png" Id="R72990048285a4f24" /><Relationship Type="http://schemas.openxmlformats.org/officeDocument/2006/relationships/notesSlide" Target="/ppt/notesSlides/notesSlide7.xml" Id="R71138f727d2546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de9a2e89f4d32" /><Relationship Type="http://schemas.openxmlformats.org/officeDocument/2006/relationships/image" Target="/ppt/media/image12.png" Id="Rec4b025f0aa44641" /><Relationship Type="http://schemas.openxmlformats.org/officeDocument/2006/relationships/image" Target="/ppt/media/image13.png" Id="Rcd296ed2cae249f0" /><Relationship Type="http://schemas.openxmlformats.org/officeDocument/2006/relationships/notesSlide" Target="/ppt/notesSlides/notesSlide8.xml" Id="R496844e89b0a48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6fc3f90be4c97" /><Relationship Type="http://schemas.openxmlformats.org/officeDocument/2006/relationships/image" Target="/ppt/media/image14.png" Id="R461cd733ecc64883" /><Relationship Type="http://schemas.openxmlformats.org/officeDocument/2006/relationships/notesSlide" Target="/ppt/notesSlides/notesSlide9.xml" Id="Raf0f32d83559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6f5f7f8184f12" /><Relationship Type="http://schemas.openxmlformats.org/officeDocument/2006/relationships/image" Target="/ppt/media/image15.png" Id="Racf283c5e0a94561" /><Relationship Type="http://schemas.openxmlformats.org/officeDocument/2006/relationships/image" Target="/ppt/media/image16.png" Id="R24af1dbd4d2e46ac" /><Relationship Type="http://schemas.openxmlformats.org/officeDocument/2006/relationships/notesSlide" Target="/ppt/notesSlides/notesSlide10.xml" Id="R98546f59e95143f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92C"/>
            </a:gs>
            <a:gs pos="52000">
              <a:srgbClr val="0B3046"/>
            </a:gs>
            <a:gs pos="100000">
              <a:srgbClr val="0F6B7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797a6896147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F7615-BFD4-4051-9CAB-2D0A570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C">
              <a:alpha val="78000"/>
            </a:srgbClr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30a1f9161453d"/>
          <a:stretch xmlns:a="http://schemas.openxmlformats.org/drawingml/2006/main"/>
        </p:blipFill>
        <p:spPr>
          <a:xfrm xmlns:a="http://schemas.openxmlformats.org/drawingml/2006/main">
            <a:off x="644037" y="495300"/>
            <a:ext cx="2198077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419CC-6172-4D86-8957-CCF826AD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E2A06-31D1-4500-84A4-FDA0A9A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 ecosistema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Anclora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A350D-339C-45B6-B97D-74FDAFC8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D6E9E6"/>
                </a:solidFill>
                <a:latin typeface="Helvetica Neue"/>
                <a:ea typeface="Helvetica Neue"/>
                <a:cs typeface="Helvetica Neue"/>
              </a:rPr>
              <a:t>Una arquitectura de producto que se adapta a cada negocio sin perder coherencia.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C1403-1B64-4CA5-8E3F-0674998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Documento de onboarding para clientes · versión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103E-4AF2-4E97-847D-C2FA49CD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ANCLORA GROUP · CLIENT ONBOARDING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1FD1-BDA2-43DF-9AD4-6DD093D0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8D9D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177445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29e6d733c4a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882D1-E162-4905-930D-60F2091F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17A04-B533-40AC-819A-FCDB0D4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LA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89846-0F9E-4944-B282-F276F67F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46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Un mismo sistema para productos muy distintos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45AC2-5A45-4AF9-8D01-6878E943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La versatilidad nace de separar las decisiones que realmente cambian.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07BC6-D69B-4AC1-ABA9-AC12819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2DF82-19F0-48C5-B01D-4B91C9EE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734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El ecosistema mantiene una base semántica común y permite adaptar estructura, identidad, luminosidad y acento al producto.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483D1-F680-4A02-90FF-066FFBCC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1A831-539E-46AF-AB91-36963EE6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B5712-3F5A-4381-9B91-AA72ABF6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Estructura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F8D4F-F67C-4FB1-86DA-A04985E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Cómo se usa la superficie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5631B-A168-4B41-B714-5613FC2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DC6CB-6122-4EFC-916D-865640EA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565DA-2CEC-4D97-B60C-0FAB3DA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544B0-0D28-49D9-A9C0-EED3C153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8E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8E7E9"/>
                </a:solidFill>
                <a:latin typeface="Helvetica Neue"/>
                <a:ea typeface="Helvetica Neue"/>
                <a:cs typeface="Helvetica Neue"/>
              </a:rPr>
              <a:t>Qué intensidad de marca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04767-945C-4BF4-A9C3-5DF9ACE8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B8834-AC7F-4A17-863C-39F3CBA4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C6FA9-2BCE-4C3A-8108-1668F819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3F9A1-11C6-4D46-BB85-26F18E8E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Claro u oscuro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35FE5-B92F-4E58-91B9-DAF58764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14750"/>
            <a:ext cx="2400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34C00-F1D0-48B5-B6B6-A915E91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05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F73BA-AA03-4BD5-B31A-05230F8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Producto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FB7C6-2B26-4B48-8565-D3415F8F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Qué acento necesita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ADB9C-7147-4F8B-B908-D35B3FCC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9445B-B033-4DFD-9949-09FE2E89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395715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e420a355049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ED138-3166-417B-8AE3-0D1617C3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884F7-387D-443A-BD48-AAE39278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 · TAXONOMÍA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63254-1396-4C7D-8637-0071E0A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Cuatro decisiones independientes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E5ED5-2A07-4FBA-BAF3-F2B6AA50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Un producto puede combinar las cuatro sin que una sustituya a otra.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D3761-94BC-4336-A625-4C399C18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54cd6d2714c15"/>
          <a:stretch xmlns:a="http://schemas.openxmlformats.org/drawingml/2006/main"/>
        </p:blipFill>
        <p:spPr>
          <a:xfrm xmlns:a="http://schemas.openxmlformats.org/drawingml/2006/main">
            <a:off x="7930891" y="2190750"/>
            <a:ext cx="2664343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D5811-674D-457E-9B10-6AF83537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Perfil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1877F-F35D-47BC-8E9A-6D67758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Workspace o Marketing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72F64-6334-459E-9BC3-BEAE2D89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 el tipo de superficie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D7D6-86A3-4B44-8B60-C613DC0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05B60-E27E-448D-88AB-74F403DF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Nivel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86678-9321-46B1-9395-C04D46A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Core, Premium o Ultra premium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25B6E-53A2-42DC-B490-FDD8B18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 intensidad y ritmo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2500E-B08C-4483-9500-3F6F1490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C23D4-4F34-4DA6-92CA-0DB7C20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Tema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B5DF6-8231-46C3-A350-8955DDB4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Claro u oscuro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A124E-EB5A-4204-90FE-502A9A4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 la luminosidad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34609-E28E-4995-B655-F9A6FA3C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FF6B6-BBCA-4AAF-BEEB-A2EFCE66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Producto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2BF14-E90D-4DB7-8CBE-B7A1052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Acento de marca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1E170-0500-4CC3-82DE-A5068E28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Define la expresión propia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C63BE-786C-4FEC-A7AA-9DB26ECC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5318A-ECC0-43AB-888C-F288CBBE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A74FA-32C1-4F18-BE50-B0EB6432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9148105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0eb58b66d49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905C2-3D43-41B6-BBBB-F6D715D6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473C-4726-469C-A670-1E0736C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 · TAXONOMÍA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089A3-245B-40BE-A677-B30B88E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La experiencia se adapta sin fragmentarse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B63F6-186D-411C-B6F7-3A77DF9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Perfil, tema y acento son capas distintas del mismo contrato.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5C953-F98F-4188-9C57-B4349625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D05FA-38BB-4839-8707-48AB4D1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9587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F4F88-9D02-4593-A871-412511B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09587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F41E5-EC55-4FB1-99B5-588055F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4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P-WKS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0C70B-6889-4E73-9E4E-51FC2B6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Espacio de trabajo autenticado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5384B-E378-40D5-ABC8-8042CC4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Navegación persistente</a:t>
            </a:r>
          </a:p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Alta densidad</a:t>
            </a:r>
          </a:p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Flujos repetidos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23636-B486-4C85-BB00-5F0C1C0B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44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rPr>
              <a:t>P-MKT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EBD1B-441D-42F6-A4CC-2814563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Página pública narrativa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CFCA2-11AA-464D-B234-07C3E5B8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rPr>
              <a:t>Desplazamiento único</a:t>
            </a:r>
          </a:p>
          <a:p xmlns:a="http://schemas.openxmlformats.org/drawingml/2006/main">
            <a:pPr algn="l">
              <a:def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rPr>
              <a:t>Orientada a la acción</a:t>
            </a:r>
          </a:p>
          <a:p xmlns:a="http://schemas.openxmlformats.org/drawingml/2006/main">
            <a:pPr algn="l">
              <a:def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5E6E5"/>
                </a:solidFill>
                <a:latin typeface="Helvetica Neue"/>
                <a:ea typeface="Helvetica Neue"/>
                <a:cs typeface="Helvetica Neue"/>
              </a:rPr>
              <a:t>Sin autenticación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51C09-A2C9-45D3-A48E-FDA6C43B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La estructura cambia; la semántica y la accesibilidad permanecen.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B46FA-50FD-430B-8B1E-353261CB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1D17D-36E0-4C7F-B237-DC86E8E5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704421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6498e958d4d9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F3630-0172-4D3F-8B3D-3BEBE846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AA6AF-D939-4C1C-8BE2-FF4572E2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II · FAMILIAS DE MARCA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5B850-62EE-4F67-82DB-D8F6A98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8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Una base común. Tres expresiones de marca.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A9DC5-9F66-465B-8FE8-B60BDBD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La familia aporta identidad; el perfil aporta estructura; el nivel aporta intensidad.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E5546-8DE1-4276-AD70-227A9AA7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87509c7564839"/>
          <a:stretch xmlns:a="http://schemas.openxmlformats.org/drawingml/2006/main"/>
        </p:blipFill>
        <p:spPr>
          <a:xfrm xmlns:a="http://schemas.openxmlformats.org/drawingml/2006/main">
            <a:off x="7781067" y="2190750"/>
            <a:ext cx="2630617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7928E-7DB4-445B-8890-976E404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571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F296C-CD78-45C3-9E19-0834C5C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63ADD-5662-4FA9-BE6B-892AE6A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62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BF184-6BBD-4A30-B897-B79B8C8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Plata monocromática sobre tinta profunda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18152-B23C-499E-913D-DD400DC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571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6A902-1E42-4424-8048-EA33708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87AE6-41F4-44B1-B6AC-FE71B97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E9CE1-D535-447E-99D0-D8A4AE62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Marfil, navy y oro. Narrativa editorial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CB578-CF22-4DB8-9FC6-3ECDE4FB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571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142ED-3CC4-4CBF-836C-294BC8A9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B8B7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D6672-D4BC-42DE-85E3-5819FE62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Interna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B8FBC-DDC9-4DDC-99D4-7AEC2F0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Base cálida, coral y salvia. Alta densidad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3AFD5-3004-4F57-A383-30FE30FB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47EEA-F034-4A9D-8C25-7384540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8375884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807446adc495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CD2B7-E56C-414D-BF18-C71E54B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B293D-E4E1-4BCE-BEA7-511D532B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II · FAMILIAS DE MARCA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C6A22-1E71-4480-B449-93678063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Qué puede cambiar y qué debe permanecer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4FE8D-6DB4-4E40-86B5-16C6182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La personalización está controlada por contrato, no por improvisación.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31C21-0537-4C4F-9854-DDB73BBC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44ABD-220C-4277-A48B-307B04C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5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1C1D2-55CE-4433-8D80-B0F5F62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81069-EBBF-498C-946C-392AEA1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Puede variar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09DAA-5177-4240-B064-44139CBB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Paleta de identidad</a:t>
            </a:r>
          </a:p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Tipografía de la familia</a:t>
            </a:r>
          </a:p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Acento propio del producto</a:t>
            </a:r>
          </a:p>
          <a:p xmlns:a="http://schemas.openxmlformats.org/drawingml/2006/main">
            <a:pPr algn="l">
              <a:def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Intensidad y ritmo de la experiencia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B9672-6D80-48B5-A866-13564A2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A6D6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A6D6D1"/>
                </a:solidFill>
                <a:latin typeface="Helvetica Neue"/>
                <a:ea typeface="Helvetica Neue"/>
                <a:cs typeface="Helvetica Neue"/>
              </a:rPr>
              <a:t>No puede variar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830F3-33A0-461A-91BA-3191444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La semántica del sistema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La accesibilidad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Los contratos de navegación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La coherencia entre superficies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C4C6F-22EE-4E1B-9D98-5B92F50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El resultado: productos reconocibles, incluso cuando su expresión visual es distinta.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CF51D-C357-471C-8A25-C69BD057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B68D7-0BC0-446A-A946-4C23A01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1119824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0da1e0d944c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B8537-B8A8-4F4C-9DB0-A37C51A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8B5AD-48D7-4BE8-9964-030739F2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IV · ARQUITECTURA DE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5980B-CC4E-4925-ABAF-1B1EEBE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Dos superficies, una misma lógica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11E2E-4FC4-4491-8994-7068EA28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El sistema aporta la anatomía; cada producto define rutas, permisos y datos.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13348-B327-4556-B9B1-1A05E8C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90048285a4f24"/>
          <a:stretch xmlns:a="http://schemas.openxmlformats.org/drawingml/2006/main"/>
        </p:blipFill>
        <p:spPr>
          <a:xfrm xmlns:a="http://schemas.openxmlformats.org/drawingml/2006/main">
            <a:off x="7689802" y="2143125"/>
            <a:ext cx="2765520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682DA-90E7-41A4-AD8D-F5680175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P-WKS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DBB1-9EB7-4057-9536-F87553CC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Trabajo operativo y continuo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F55AF-BB17-4A49-A68A-6FA89F20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Estructura autenticada, navegación persistente y alta densidad.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A001A-8567-432A-98B8-74C9529C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P-MKT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23DE4-FF37-4E95-9124-E492E7B0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Presentación y conversión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BEBA3-799E-4E3D-93B9-FFD39D1B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2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Superficie pública, narrativa y orientada a la acción.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D37B0-2464-4C6B-8535-CD15D895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BB51D-1ECB-49FF-AB72-147B5033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4133294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42000">
              <a:srgbClr val="F3FAF9"/>
            </a:gs>
            <a:gs pos="100000">
              <a:srgbClr val="DCEF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b025f0aa446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CC2BD-DD8E-4180-8803-4F578D7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F4671-F825-4292-B88F-E9D50A7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IV · ARQUITECTURA DE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AD3BA-5D75-4D8B-B78B-736E6CE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La arquitectura ordena la experiencia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ADF69-4284-4A5C-A5A1-CBD19DC0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La estructura define cómo se descubre, se usa y se amplía el producto.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55BDF-9BD8-4597-BEE5-3AC6289E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96ed2cae249f0"/>
          <a:stretch xmlns:a="http://schemas.openxmlformats.org/drawingml/2006/main"/>
        </p:blipFill>
        <p:spPr>
          <a:xfrm xmlns:a="http://schemas.openxmlformats.org/drawingml/2006/main">
            <a:off x="7685817" y="2190750"/>
            <a:ext cx="2630617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C9B00-4EE9-4376-8390-85C947E4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DCAEE-794F-45AC-BD4A-0E47B66F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Navegación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D2412-971F-411B-9DAE-AEE17C9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Rutas y jerarquía claras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0CBF6-BBE0-4AD4-91BD-15C7C77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40EF5-A677-4661-A863-667C017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7BAD2-ED1D-4C7A-821F-DD2A34EC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Contenido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E7B69-EBFA-4FFC-9A07-A89E8B63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147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Capas y prioridades visibles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FACCC-B5A5-47D0-9D32-DE437776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6DE32-7AAE-4AB2-A256-A6695CC4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82D45-FDC7-4A3F-BD28-CA33777F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Accesibilidad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C2F77-BCBC-401D-BA70-409505B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Foco, semántica y retorno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B845A-490E-4794-B6E4-8968C34B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1167D-515D-46C2-9639-1803081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958D6-E6A1-4D2A-9C95-99A0A8FE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Producto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3B48D-8F73-421E-B529-D510E39F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Permisos, datos y negocio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06B33-FC4F-4677-9A9B-B03E33C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A4001-F3D0-4450-BC65-B01924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4C7F7-625F-4672-B9B2-2A9DDF5A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9660073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9"/>
            </a:gs>
            <a:gs pos="48000">
              <a:srgbClr val="E3F2F0"/>
            </a:gs>
            <a:gs pos="100000">
              <a:srgbClr val="BFDCD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cd733ecc648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220BF-1DBB-4749-9458-A2A73DB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A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0E890-43A3-4CEC-A5F0-26511C67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PARTE IV · ARQUITECTURA DE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AD072-3D91-4E4F-A909-5B49C4A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56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Patrones compartidos para acelerar el 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6FBCB-8C55-4190-835C-6CE3ED92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Composiciones comunes para que el producto conserve su lógica de negocio.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C0ACE-2687-4B57-9373-61C5632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6EA36-A3AB-40E1-8A0D-F1EFA7AE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96693-6414-4775-AC1C-590DCF35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08E88-3BEE-49D4-BB69-23DABB1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D985D-2A63-4ED9-9722-7C38C50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Entrar, recuperar y comunicar errores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086A7-A513-4739-B17C-C4B9A03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33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D60E5-B811-4A5A-A92F-845F7CC6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24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64A57-2580-4ED5-B6AB-F9F44F9D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Ajustes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6881F-C63C-4C1D-9A2A-C3086D8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43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Agrupar preferencias y acciones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7ECAA-A721-4FB7-9729-BD2196B4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0D46C-17C5-4CC5-B440-5A08F8E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29691-ED7E-4956-B1B8-416F0B13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Carga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F5E2F-2F66-4CE0-AF77-A694E1C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Separar selección y procesamiento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9E456-433E-4C5C-A40C-E1458E07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861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ED6D8-B7CC-4039-9A36-CB9B98A0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D0BC3-0780-4A5E-B766-8EB1DDE9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19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Resultados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314DF-E10F-4887-8D0D-3608F7B2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695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Mostrar progreso, estado y acciones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CCA44-0365-41E0-BFF6-DE867FDB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8DA40-6CEF-4D05-9477-AF5C9B5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4BE14-16CF-4C77-9A33-1BDB2F2D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71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Acciones masivas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892B0-77D0-434D-8117-52A9DF30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Actuar solo con selección explícita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DAF59-556F-44E4-B989-39BF10BD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38625"/>
            <a:ext cx="5048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0D709-F1DD-4635-A5FB-D014238F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29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3517FF-01C4-4EBC-BA43-7BAC42E8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71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Confirmación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6B42A-61D2-46FA-A7F5-18833806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48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Explicar la consecuencia antes de destruir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C54010-E29C-4E68-8D60-8CECDB8C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La composición se comparte. La ejecución, el estado y los datos siguen siendo del producto.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75E476-E962-495C-B213-6797648B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EXECUTIVE SUMMARY 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C1E63-A6F1-44C0-85F1-2C60AA09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9416781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92C"/>
            </a:gs>
            <a:gs pos="52000">
              <a:srgbClr val="0B3046"/>
            </a:gs>
            <a:gs pos="100000">
              <a:srgbClr val="0F6B7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283c5e0a945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E932-5BB5-4FE9-9624-644F324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C">
              <a:alpha val="78000"/>
            </a:srgbClr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f1dbd4d2e46ac"/>
          <a:stretch xmlns:a="http://schemas.openxmlformats.org/drawingml/2006/main"/>
        </p:blipFill>
        <p:spPr>
          <a:xfrm xmlns:a="http://schemas.openxmlformats.org/drawingml/2006/main">
            <a:off x="644037" y="495300"/>
            <a:ext cx="2198077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1C297-9F1A-4B4C-87DA-F7D5E4E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9CC9C6"/>
                </a:solidFill>
                <a:latin typeface="Helvetica Neue"/>
                <a:ea typeface="Helvetica Neue"/>
                <a:cs typeface="Helvetica Neue"/>
              </a:rPr>
              <a:t>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91D75-8A92-4328-B58E-F66C55C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 ecosistema preparado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 crecer contigo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F198A-6931-4BF7-B113-550BC283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27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rPr>
              <a:t>La conversación con el cliente empieza por el producto.</a:t>
            </a:r>
          </a:p>
          <a:p xmlns:a="http://schemas.openxmlformats.org/drawingml/2006/main">
            <a:pPr algn="l">
              <a:def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D9E9E7"/>
                </a:solidFill>
                <a:latin typeface="Helvetica Neue"/>
                <a:ea typeface="Helvetica Neue"/>
                <a:cs typeface="Helvetica Neue"/>
              </a:rPr>
              <a:t>La arquitectura permite que cada decisión tenga un lugar y una razón.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84E89-8B16-4F69-B636-97393B3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11D1E-28F0-40A7-AB12-D0BA4AA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E53E4-8F8A-4000-954C-E5867BB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rPr>
              <a:t>Qué producto y qué superficie necesita el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68483-B166-4B85-8E25-8FEE5F33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7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8E087-C877-40DE-ACC9-6EAACEC3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2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Configurar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469C1-0158-4EB1-913B-918F071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29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rPr>
              <a:t>Qué perfil, nivel, tema y familia corresponden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2C3C4-E6A3-44DC-A2A8-85E2865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72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C79B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D4AB0-447F-4BB5-A5ED-AC628AE6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24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2988-6870-4DF1-939E-1FB6731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29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BD2D1"/>
                </a:solidFill>
                <a:latin typeface="Helvetica Neue"/>
                <a:ea typeface="Helvetica Neue"/>
                <a:cs typeface="Helvetica Neue"/>
              </a:rPr>
              <a:t>Qué patrones y rutas forman el primer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30744-76DE-47E5-BA61-E67A0BD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87C80"/>
                </a:solidFill>
                <a:latin typeface="Helvetica Neue"/>
                <a:ea typeface="Helvetica Neue"/>
                <a:cs typeface="Helvetica Neue"/>
              </a:rPr>
              <a:t>ANCLORA GROUP · CLIENT 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9780F-C581-448A-A3F1-2B76F4D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3687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2011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2026-09-23T15:36:29.9610000Z</dcterms:created>
  <dcterms:modified xsi:type="dcterms:W3CDTF">2026-09-23T15:36:29.9610000Z</dcterms:modified>
</coreProperties>
</file>