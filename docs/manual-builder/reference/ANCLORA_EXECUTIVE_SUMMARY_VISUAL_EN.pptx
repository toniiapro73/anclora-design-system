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886c8b46cb467b" /><Relationship Type="http://schemas.openxmlformats.org/officeDocument/2006/relationships/extended-properties" Target="/docProps/app.xml" Id="R0df9a352d8dc4661" /><Relationship Type="http://schemas.openxmlformats.org/officeDocument/2006/relationships/officeDocument" Target="/ppt/presentation.xml" Id="R7576fcbfb48443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5db26d180a4fc9"/>
  </p:sldMasterIdLst>
  <p:notesMasterIdLst>
    <p:notesMasterId xmlns:r="http://schemas.openxmlformats.org/officeDocument/2006/relationships" r:id="R7a1bbbe2fb484f85"/>
  </p:notesMasterIdLst>
  <p:sldIdLst>
    <p:sldId xmlns:r="http://schemas.openxmlformats.org/officeDocument/2006/relationships" id="256" r:id="R3941350c55414e0a"/>
    <p:sldId xmlns:r="http://schemas.openxmlformats.org/officeDocument/2006/relationships" id="257" r:id="R8e32cb450b1e42b3"/>
    <p:sldId xmlns:r="http://schemas.openxmlformats.org/officeDocument/2006/relationships" id="258" r:id="R87f372f4b6c3464e"/>
    <p:sldId xmlns:r="http://schemas.openxmlformats.org/officeDocument/2006/relationships" id="259" r:id="R5a4609770eac4898"/>
    <p:sldId xmlns:r="http://schemas.openxmlformats.org/officeDocument/2006/relationships" id="260" r:id="Rc1dc77a01baa4ad6"/>
    <p:sldId xmlns:r="http://schemas.openxmlformats.org/officeDocument/2006/relationships" id="261" r:id="Ra112811f19d54b0a"/>
    <p:sldId xmlns:r="http://schemas.openxmlformats.org/officeDocument/2006/relationships" id="262" r:id="Rc06daf30fa7c4b9c"/>
    <p:sldId xmlns:r="http://schemas.openxmlformats.org/officeDocument/2006/relationships" id="263" r:id="R950d0be0272a4bae"/>
    <p:sldId xmlns:r="http://schemas.openxmlformats.org/officeDocument/2006/relationships" id="264" r:id="R883e2169a13f45b4"/>
    <p:sldId xmlns:r="http://schemas.openxmlformats.org/officeDocument/2006/relationships" id="265" r:id="R0c3836b726124b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b2a5106df64712" /><Relationship Type="http://schemas.openxmlformats.org/officeDocument/2006/relationships/slideMaster" Target="/ppt/slideMasters/slideMaster1.xml" Id="R8b5db26d180a4fc9" /><Relationship Type="http://schemas.openxmlformats.org/officeDocument/2006/relationships/notesMaster" Target="/ppt/notesMasters/notesMaster1.xml" Id="R7a1bbbe2fb484f85" /><Relationship Type="http://schemas.openxmlformats.org/officeDocument/2006/relationships/presProps" Target="/ppt/presProps.xml" Id="Re0b54d0472bd41a6" /><Relationship Type="http://schemas.openxmlformats.org/officeDocument/2006/relationships/tableStyles" Target="/ppt/tableStyles.xml" Id="Rde6ab99c8cbd49fd" /><Relationship Type="http://schemas.openxmlformats.org/officeDocument/2006/relationships/slide" Target="/ppt/slides/slide1.xml" Id="R3941350c55414e0a" /><Relationship Type="http://schemas.openxmlformats.org/officeDocument/2006/relationships/slide" Target="/ppt/slides/slide2.xml" Id="R8e32cb450b1e42b3" /><Relationship Type="http://schemas.openxmlformats.org/officeDocument/2006/relationships/slide" Target="/ppt/slides/slide3.xml" Id="R87f372f4b6c3464e" /><Relationship Type="http://schemas.openxmlformats.org/officeDocument/2006/relationships/slide" Target="/ppt/slides/slide4.xml" Id="R5a4609770eac4898" /><Relationship Type="http://schemas.openxmlformats.org/officeDocument/2006/relationships/slide" Target="/ppt/slides/slide5.xml" Id="Rc1dc77a01baa4ad6" /><Relationship Type="http://schemas.openxmlformats.org/officeDocument/2006/relationships/slide" Target="/ppt/slides/slide6.xml" Id="Ra112811f19d54b0a" /><Relationship Type="http://schemas.openxmlformats.org/officeDocument/2006/relationships/slide" Target="/ppt/slides/slide7.xml" Id="Rc06daf30fa7c4b9c" /><Relationship Type="http://schemas.openxmlformats.org/officeDocument/2006/relationships/slide" Target="/ppt/slides/slide8.xml" Id="R950d0be0272a4bae" /><Relationship Type="http://schemas.openxmlformats.org/officeDocument/2006/relationships/slide" Target="/ppt/slides/slide9.xml" Id="R883e2169a13f45b4" /><Relationship Type="http://schemas.openxmlformats.org/officeDocument/2006/relationships/slide" Target="/ppt/slides/slide10.xml" Id="R0c3836b726124b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ba4cc0a38e4b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997e9910cd4ce4" /><Relationship Type="http://schemas.openxmlformats.org/officeDocument/2006/relationships/notesMaster" Target="/ppt/notesMasters/notesMaster1.xml" Id="Ra81123884fd34c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b0827b235a425c" /><Relationship Type="http://schemas.openxmlformats.org/officeDocument/2006/relationships/notesMaster" Target="/ppt/notesMasters/notesMaster1.xml" Id="R5f505ae11cf44e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db50bd22a84a5d" /><Relationship Type="http://schemas.openxmlformats.org/officeDocument/2006/relationships/notesMaster" Target="/ppt/notesMasters/notesMaster1.xml" Id="Re50b029f7ac04b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af725a432b410c" /><Relationship Type="http://schemas.openxmlformats.org/officeDocument/2006/relationships/notesMaster" Target="/ppt/notesMasters/notesMaster1.xml" Id="R37af13cb42214e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f4df503fe7471a" /><Relationship Type="http://schemas.openxmlformats.org/officeDocument/2006/relationships/notesMaster" Target="/ppt/notesMasters/notesMaster1.xml" Id="R530ba6fbe0534b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08761cc61e4af6" /><Relationship Type="http://schemas.openxmlformats.org/officeDocument/2006/relationships/notesMaster" Target="/ppt/notesMasters/notesMaster1.xml" Id="R90279fed1e5d40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8564e3aca74c46" /><Relationship Type="http://schemas.openxmlformats.org/officeDocument/2006/relationships/notesMaster" Target="/ppt/notesMasters/notesMaster1.xml" Id="R51e8d5af6ed04e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0c439688424c6a" /><Relationship Type="http://schemas.openxmlformats.org/officeDocument/2006/relationships/notesMaster" Target="/ppt/notesMasters/notesMaster1.xml" Id="R9a1f5b178f834a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d711e475ab442b" /><Relationship Type="http://schemas.openxmlformats.org/officeDocument/2006/relationships/notesMaster" Target="/ppt/notesMasters/notesMaster1.xml" Id="R5081017a982446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bdbc0712cd4d4f" /><Relationship Type="http://schemas.openxmlformats.org/officeDocument/2006/relationships/notesMaster" Target="/ppt/notesMasters/notesMaster1.xml" Id="Re743b1e1e8af42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Manual V1 revisado, portada.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Manual V1 reviewed, page 4, System taxonomy.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Manual V1 reviewed, page 4, System taxonomy.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Manual V1 reviewed, pages 5 and 6, themes, profiles and P-WKS/P-MKT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Manual V1 reviewed, page 8, Brand families.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Manual V1 reviewed, pages 5 and 8, themes, profiles and brand families.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Manual V1 reviewed, page 6, Typical visual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Manual V1 reviewed, page 21, Application structure and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Manual V1 reviewed, page 24, Shared product patterns.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Commercial close derived from the taxonomy, brand families and product architecture sections of the reviewed V1 Manual.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697b7f39314d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2969b3077947a9" /><Relationship Type="http://schemas.openxmlformats.org/officeDocument/2006/relationships/slideLayout" Target="/ppt/slideLayouts/slideLayout1.xml" Id="R0e92a712afc641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92a712afc641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f60630f394988" /><Relationship Type="http://schemas.openxmlformats.org/officeDocument/2006/relationships/image" Target="/ppt/media/image.png" Id="R492ce38ceaad4fd9" /><Relationship Type="http://schemas.openxmlformats.org/officeDocument/2006/relationships/image" Target="/ppt/media/image2.png" Id="R4eaef256f29a4573" /><Relationship Type="http://schemas.openxmlformats.org/officeDocument/2006/relationships/notesSlide" Target="/ppt/notesSlides/notesSlide1.xml" Id="R5906f439d1284e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be5e89ef74377" /><Relationship Type="http://schemas.openxmlformats.org/officeDocument/2006/relationships/image" Target="/ppt/media/image3.png" Id="R12c4beecc73643a9" /><Relationship Type="http://schemas.openxmlformats.org/officeDocument/2006/relationships/notesSlide" Target="/ppt/notesSlides/notesSlide2.xml" Id="Ra22ce7536fde4a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6a3dbe12a4444" /><Relationship Type="http://schemas.openxmlformats.org/officeDocument/2006/relationships/image" Target="/ppt/media/image4.png" Id="R6922e1bf584a4614" /><Relationship Type="http://schemas.openxmlformats.org/officeDocument/2006/relationships/image" Target="/ppt/media/image5.png" Id="R38fdbe9659f84451" /><Relationship Type="http://schemas.openxmlformats.org/officeDocument/2006/relationships/notesSlide" Target="/ppt/notesSlides/notesSlide3.xml" Id="R31d02cb4def541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955952c2e4cc1" /><Relationship Type="http://schemas.openxmlformats.org/officeDocument/2006/relationships/image" Target="/ppt/media/image6.png" Id="Rf7891df247754085" /><Relationship Type="http://schemas.openxmlformats.org/officeDocument/2006/relationships/notesSlide" Target="/ppt/notesSlides/notesSlide4.xml" Id="R89285b8df47d48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45f70fb0c4bf9" /><Relationship Type="http://schemas.openxmlformats.org/officeDocument/2006/relationships/image" Target="/ppt/media/image7.png" Id="R9a926e2be79f42e9" /><Relationship Type="http://schemas.openxmlformats.org/officeDocument/2006/relationships/image" Target="/ppt/media/image8.png" Id="R9adef44590f249cf" /><Relationship Type="http://schemas.openxmlformats.org/officeDocument/2006/relationships/notesSlide" Target="/ppt/notesSlides/notesSlide5.xml" Id="Rfb8e3d5e3e714b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e32833a4d4219" /><Relationship Type="http://schemas.openxmlformats.org/officeDocument/2006/relationships/image" Target="/ppt/media/image9.png" Id="Rb5d94bb8312c4436" /><Relationship Type="http://schemas.openxmlformats.org/officeDocument/2006/relationships/notesSlide" Target="/ppt/notesSlides/notesSlide6.xml" Id="R5864cc54fad24f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fce75ff104ed0" /><Relationship Type="http://schemas.openxmlformats.org/officeDocument/2006/relationships/image" Target="/ppt/media/image10.png" Id="R593432d1d98f4acb" /><Relationship Type="http://schemas.openxmlformats.org/officeDocument/2006/relationships/image" Target="/ppt/media/image11.png" Id="R1f8e9aa8459a457c" /><Relationship Type="http://schemas.openxmlformats.org/officeDocument/2006/relationships/notesSlide" Target="/ppt/notesSlides/notesSlide7.xml" Id="R3327759bba4040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dd16afffb4bd6" /><Relationship Type="http://schemas.openxmlformats.org/officeDocument/2006/relationships/image" Target="/ppt/media/image12.png" Id="R580d0b4b07b34fe7" /><Relationship Type="http://schemas.openxmlformats.org/officeDocument/2006/relationships/image" Target="/ppt/media/image13.png" Id="R062af9814a8b44e3" /><Relationship Type="http://schemas.openxmlformats.org/officeDocument/2006/relationships/notesSlide" Target="/ppt/notesSlides/notesSlide8.xml" Id="Rfd3ce46e8e2943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9ca777e014424" /><Relationship Type="http://schemas.openxmlformats.org/officeDocument/2006/relationships/image" Target="/ppt/media/image14.png" Id="R1cc6a62607d04cae" /><Relationship Type="http://schemas.openxmlformats.org/officeDocument/2006/relationships/notesSlide" Target="/ppt/notesSlides/notesSlide9.xml" Id="Rfbd134c793554b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94d5a365a4660" /><Relationship Type="http://schemas.openxmlformats.org/officeDocument/2006/relationships/image" Target="/ppt/media/image15.png" Id="R869d6d4d2f5647d4" /><Relationship Type="http://schemas.openxmlformats.org/officeDocument/2006/relationships/image" Target="/ppt/media/image16.png" Id="R950335c3aed54fbb" /><Relationship Type="http://schemas.openxmlformats.org/officeDocument/2006/relationships/notesSlide" Target="/ppt/notesSlides/notesSlide10.xml" Id="R586ba75d85e34a49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92C"/>
            </a:gs>
            <a:gs pos="52000">
              <a:srgbClr val="0B3046"/>
            </a:gs>
            <a:gs pos="100000">
              <a:srgbClr val="0F6B70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ce38ceaad4fd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145F7-32F8-4594-9E89-C9FC3914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C">
              <a:alpha val="78000"/>
            </a:srgbClr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ef256f29a4573"/>
          <a:stretch xmlns:a="http://schemas.openxmlformats.org/drawingml/2006/main"/>
        </p:blipFill>
        <p:spPr>
          <a:xfrm xmlns:a="http://schemas.openxmlformats.org/drawingml/2006/main">
            <a:off x="644037" y="495300"/>
            <a:ext cx="2198077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1490B-935C-45BE-973F-EF1E99A0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D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A8D9D2"/>
                </a:solidFill>
                <a:latin typeface="Helvetica Neue"/>
                <a:ea typeface="Helvetica Neue"/>
                <a:cs typeface="Helvetica Neue"/>
              </a:rPr>
              <a:t>EXECUTIVE SUMMARY VISUAL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6DFEE-141A-4A53-9C0D-F30F7792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Anclora</a:t>
            </a:r>
          </a:p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ecosystem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50E10-C1EB-453A-A88E-86ABA47F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6E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D6E9E6"/>
                </a:solidFill>
                <a:latin typeface="Helvetica Neue"/>
                <a:ea typeface="Helvetica Neue"/>
                <a:cs typeface="Helvetica Neue"/>
              </a:rPr>
              <a:t>A product architecture that adapts to every business without losing coherence.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26558-4E28-4912-8778-C75C1B25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8D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A8D9D2"/>
                </a:solidFill>
                <a:latin typeface="Helvetica Neue"/>
                <a:ea typeface="Helvetica Neue"/>
                <a:cs typeface="Helvetica Neue"/>
              </a:rPr>
              <a:t>Client onboarding document · version 1.0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E7463-3A5F-4AFD-ADD8-223D4BF2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8D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A8D9D2"/>
                </a:solidFill>
                <a:latin typeface="Helvetica Neue"/>
                <a:ea typeface="Helvetica Neue"/>
                <a:cs typeface="Helvetica Neue"/>
              </a:rPr>
              <a:t>ANCLORA GROUP · CLIENT ONBOARDING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97552-6849-4FEE-9E33-23CFF0C5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8D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A8D9D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7352146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42000">
              <a:srgbClr val="F3FAF9"/>
            </a:gs>
            <a:gs pos="100000">
              <a:srgbClr val="DCEFEB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4beecc73643a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E103E-804B-4F37-91BB-7B81BC3C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A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24C66-3FB6-4CE8-ACB3-57ABAB7F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THE PROPOSITION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DB159-D4C9-42BB-BB30-124A2E3B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One system for very different products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28E78-C992-4475-B553-1821EDE5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Versatility comes from separating the decisions that truly change.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32DAB-C69F-4362-BBA8-7C870BC6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1125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89661-14D4-4BD6-9BA3-FFA26C3F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566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The ecosystem keeps one semantic foundation while adapting structure, identity, brightness and product accent.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E26CB-6070-423D-A61A-E3CB3C59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2400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B134B-B326-4800-AACE-91D99D66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06902-B2D8-4099-8B24-184FA0B6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37FE3-D6E6-4C0D-BD4B-0D00A97C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How the surface is used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97B96-D0A6-4499-8C35-455A1AD7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714750"/>
            <a:ext cx="2400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D8089B-4501-4D68-BFC4-B0D590C6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9052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AD8C6-B424-465C-B6DD-E9DEAB33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324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Identity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76279-0828-4D9F-A1A5-38318D5D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7625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8E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8E7E9"/>
                </a:solidFill>
                <a:latin typeface="Helvetica Neue"/>
                <a:ea typeface="Helvetica Neue"/>
                <a:cs typeface="Helvetica Neue"/>
              </a:rPr>
              <a:t>How strong the brand feels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7FF57-A9A9-41A5-B436-B3DC2BEF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14750"/>
            <a:ext cx="2400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9F35B-DB76-44BB-B9BE-F652A45A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6CDF9-063D-44D2-8702-DFEA7867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24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Theme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5E7245-1B26-4C44-A57A-2C74EC19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Light or dark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D05C40-5961-481C-A659-FE23A091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714750"/>
            <a:ext cx="2400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D009B6-387B-451E-A170-6DAA9477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9052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196A1A-FC30-43EB-9870-6D327239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324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8877DF-ABDE-4B06-B46B-B1CA0CA6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7625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Which accent it needs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3E93EB-A3CA-42B6-A2C7-F5327448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EXECUTIVE SUMMARY VISUAL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AE2505-8CC5-4E99-A638-589EA51A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16971383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3FAF9"/>
            </a:gs>
            <a:gs pos="48000">
              <a:srgbClr val="E3F2F0"/>
            </a:gs>
            <a:gs pos="100000">
              <a:srgbClr val="BFDCD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2e1bf584a461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07307-1CB8-488F-BC4D-1B28A071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A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B9D92-D9F5-4D6E-A03A-66ACA869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PART I · TAXONOMY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FECDF-2628-4006-8722-A4EAFD1B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Four independent decisions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54230-10A2-43AE-BF82-567BC5E0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One product can combine all four without one replacing another.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8F20E-9F87-4018-9085-7C6A0CB2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1125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B"/>
          </a:solidFill>
          <a:ln xmlns:a="http://schemas.openxmlformats.org/drawingml/2006/main" w="0">
            <a:noFill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dbe9659f84451"/>
          <a:stretch xmlns:a="http://schemas.openxmlformats.org/drawingml/2006/main"/>
        </p:blipFill>
        <p:spPr>
          <a:xfrm xmlns:a="http://schemas.openxmlformats.org/drawingml/2006/main">
            <a:off x="7931935" y="2190750"/>
            <a:ext cx="2662256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52D63-7AF6-4ED3-99BE-49F79FF8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Profile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88F24-8C74-4333-BBB3-C077ABE0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8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Workspace or Marketing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09571-5949-4A43-8468-B2BBD477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86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Defines the surface 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73CA0-53E3-43BC-AB26-C00C76B3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581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9D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CA936-85FB-4702-9853-A52DDA2E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Level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4054B-8C68-4D67-8C75-4EEA6E3F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62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37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Core, Premium or Ultra premium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0ED93C-6E4D-4BDC-B7A2-A903A9BA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67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Defines intensity and rhythm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BE1EA-C309-48B0-AE0E-6B3242FD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581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9D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40A66-2087-4AF3-AC3D-4185BE32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Theme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977C83-ECE0-470C-B79D-AA748437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43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Light or dark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B78119-103F-4444-AD0B-E453AA92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48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Defines brightness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A65BFA-D8AA-41AE-92B1-970CF70A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581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9D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BB6EA2-C9D8-4F97-9D3A-B4B2D1BE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AC9231-EBDF-4ECE-9B69-515B72A1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24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Brand accent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3B5209-F6F0-4CD5-817C-4D354656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29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Defines the product expression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86E698-1B9E-47DE-83A5-37D58776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72100"/>
            <a:ext cx="581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9D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BDDAFE-9F3D-4294-9EAF-EA1FACAD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EXECUTIVE SUMMARY VISUAL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2BA390-DFAB-4065-B706-E3050582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83735736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42000">
              <a:srgbClr val="F3FAF9"/>
            </a:gs>
            <a:gs pos="100000">
              <a:srgbClr val="DCEFEB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91df24775408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FB78F-9BE0-4D48-A904-F8C75E6B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A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27D7D-EB0F-43A3-9F1A-091DB6D1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PART I · TAXONOMY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6842C-6906-4F24-9B39-9DF76E41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The experience adapts without fragmenting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5CF3C-7CA6-407D-94ED-08F6224E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Profile, theme and accent are separate layers of the same contract.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A8D15-D31D-42C3-9553-37076EA1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1125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8159F-85F7-44BE-B03F-454845FD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5095875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82361-894B-4946-84D4-1F0C796F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5095875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BAA0B-D45A-428A-8100-A6F85AEC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344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P-WKS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8F7A4-A025-44CC-8B62-66AE1421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Authenticated workspace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16270-1B55-4E57-8612-3BCB01B2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Persistent navigation</a:t>
            </a:r>
          </a:p>
          <a:p xmlns:a="http://schemas.openxmlformats.org/drawingml/2006/main">
            <a:pPr algn="l">
              <a:defRPr sz="16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High density</a:t>
            </a:r>
          </a:p>
          <a:p xmlns:a="http://schemas.openxmlformats.org/drawingml/2006/main">
            <a:pPr algn="l">
              <a:defRPr sz="16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Repeated workflows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BE996-ADDE-48C5-A6DD-F16BE9F8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14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344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9CC9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9CC9C6"/>
                </a:solidFill>
                <a:latin typeface="Helvetica Neue"/>
                <a:ea typeface="Helvetica Neue"/>
                <a:cs typeface="Helvetica Neue"/>
              </a:rPr>
              <a:t>P-MKT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0529E-0F87-41EB-9DE2-F6673AF1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718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Narrative public page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F7B8A-45DD-433C-B2DB-C741EF4F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147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5E6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D5E6E5"/>
                </a:solidFill>
                <a:latin typeface="Helvetica Neue"/>
                <a:ea typeface="Helvetica Neue"/>
                <a:cs typeface="Helvetica Neue"/>
              </a:rPr>
              <a:t>Single-scroll journey</a:t>
            </a:r>
          </a:p>
          <a:p xmlns:a="http://schemas.openxmlformats.org/drawingml/2006/main">
            <a:pPr algn="l">
              <a:defRPr sz="1650" b="0" i="0">
                <a:solidFill>
                  <a:srgbClr val="D5E6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D5E6E5"/>
                </a:solidFill>
                <a:latin typeface="Helvetica Neue"/>
                <a:ea typeface="Helvetica Neue"/>
                <a:cs typeface="Helvetica Neue"/>
              </a:rPr>
              <a:t>Action-oriented</a:t>
            </a:r>
          </a:p>
          <a:p xmlns:a="http://schemas.openxmlformats.org/drawingml/2006/main">
            <a:pPr algn="l">
              <a:defRPr sz="1650" b="0" i="0">
                <a:solidFill>
                  <a:srgbClr val="D5E6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D5E6E5"/>
                </a:solidFill>
                <a:latin typeface="Helvetica Neue"/>
                <a:ea typeface="Helvetica Neue"/>
                <a:cs typeface="Helvetica Neue"/>
              </a:rPr>
              <a:t>No authentication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FA0AB9-E7B5-4578-81B6-9D77DBFF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The structure changes; semantics and accessibility remain.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BD12E8-9259-4D75-9F34-25DBFCC5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EXECUTIVE SUMMARY VISUAL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3EA4D-F039-4CDD-A9AA-DA1840AC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94065350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3FAF9"/>
            </a:gs>
            <a:gs pos="48000">
              <a:srgbClr val="E3F2F0"/>
            </a:gs>
            <a:gs pos="100000">
              <a:srgbClr val="BFDCD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26e2be79f42e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8584A-CBBD-4426-99C7-1C9A2EDE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A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5BC11-C966-49AA-BA62-F8A34309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PART II · BRAND FAMILIES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FB590-8D47-4F05-A502-ED0CF48D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12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One shared foundation. Three brand expressions.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2C6BE-A613-4A13-8DD6-421612E3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The family brings identity; the profile brings structure; the level brings intensity.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89FD0-2F21-4D08-B1CC-0F781BC7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1125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B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ef44590f249cf"/>
          <a:stretch xmlns:a="http://schemas.openxmlformats.org/drawingml/2006/main"/>
        </p:blipFill>
        <p:spPr>
          <a:xfrm xmlns:a="http://schemas.openxmlformats.org/drawingml/2006/main">
            <a:off x="7782097" y="2190750"/>
            <a:ext cx="2628556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A11DC-94A8-49C7-B729-D5377288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5715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5465C-2AC0-448F-B293-BA6C887B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131A8-EEBB-4733-8E0A-A13B978B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622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Group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8D391-467C-4C76-ACDB-248890FB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479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Monochrome silver on deep ink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12504-0589-4BAD-B040-05F0E3E1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0425"/>
            <a:ext cx="5715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1F2958-97C9-44D4-8E81-0CDBC524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79B3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F0289-003F-4D19-9F87-DD386688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Portfolio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D4558-3065-4CE2-9D59-8698B0F1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481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Ivory, navy and gold. Editorial narrative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3A0AD3-2FF4-4764-A810-81CEDDDE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5715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2752D5-025C-438A-AB9F-9394B12B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B8B7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EBF458-FAE8-45DF-9258-40BA2D47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624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Internal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E95C59-CEE3-43DE-AD21-F71F5979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482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Warm base, coral and sage. High density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23CAEC-B14C-4F5E-85F8-8EED6233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EXECUTIVE SUMMARY VISUAL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9FBA04-ED18-48AF-8CF1-FD3937BF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7675972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42000">
              <a:srgbClr val="F3FAF9"/>
            </a:gs>
            <a:gs pos="100000">
              <a:srgbClr val="DCEFEB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94bb8312c443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E8415-0E91-4258-8C24-CEEDD0CC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A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9C567-6335-4FE2-8CBA-3E7E6432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PART II · BRAND FAMILIES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E0A49-5D04-46DF-A360-AB020A67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What can change and what must remain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1A4AC-6F96-4F5F-9429-3487294E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Personalisation follows a contract, not improvisation.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2C9E8-78F8-4E0C-B800-8D6D3808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1125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DFB22-3A9A-49CC-88BE-D9DCF1CC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9530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4B96E-BE54-45D5-AED0-CE3CEF0E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9530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C99ED-0BE9-4839-8762-DFB8D9BC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Can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742F0-6F86-45C2-881C-2D9CB593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Identity palette</a:t>
            </a:r>
          </a:p>
          <a:p xmlns:a="http://schemas.openxmlformats.org/drawingml/2006/main">
            <a:pPr algn="l">
              <a:defRPr sz="1575" b="0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Family typography</a:t>
            </a:r>
          </a:p>
          <a:p xmlns:a="http://schemas.openxmlformats.org/drawingml/2006/main">
            <a:pPr algn="l">
              <a:defRPr sz="1575" b="0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Product-specific accent</a:t>
            </a:r>
          </a:p>
          <a:p xmlns:a="http://schemas.openxmlformats.org/drawingml/2006/main">
            <a:pPr algn="l">
              <a:defRPr sz="1575" b="0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Experience intensity and rhythm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40965-1CDE-46E7-9F04-49A95457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67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A6D6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A6D6D1"/>
                </a:solidFill>
                <a:latin typeface="Helvetica Neue"/>
                <a:ea typeface="Helvetica Neue"/>
                <a:cs typeface="Helvetica Neue"/>
              </a:rPr>
              <a:t>Must remain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99336-9BBD-41DD-BE6D-25FD4FEF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3850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System semantics</a:t>
            </a:r>
          </a:p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Accessibility</a:t>
            </a:r>
          </a:p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Navigation contracts</a:t>
            </a:r>
          </a:p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Coherence across surfaces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82593-8869-428D-91A0-0F4529C4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The result: recognisable products, even when their visual expression differs.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1ADB6-F10F-420C-85B1-1B3D050B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EXECUTIVE SUMMARY VISUAL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E6FE4B-5C93-41C2-99CF-4F6327D0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29019098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3FAF9"/>
            </a:gs>
            <a:gs pos="48000">
              <a:srgbClr val="E3F2F0"/>
            </a:gs>
            <a:gs pos="100000">
              <a:srgbClr val="BFDCD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432d1d98f4ac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EF49B-D7C9-4BF7-9182-25940160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A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539E3-6A4B-410D-B1BA-19521C15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PART IV · PRODUCT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F5D3A-9246-4920-9612-9C921A6C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Two surfaces, one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10AC6-CE83-4549-9FCE-06DCBEA8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The system provides the anatomy; each product defines routes, permissions and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DA929-6655-4E38-AA21-D08B409D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1125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B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e9aa8459a457c"/>
          <a:stretch xmlns:a="http://schemas.openxmlformats.org/drawingml/2006/main"/>
        </p:blipFill>
        <p:spPr>
          <a:xfrm xmlns:a="http://schemas.openxmlformats.org/drawingml/2006/main">
            <a:off x="7690885" y="2143125"/>
            <a:ext cx="2763354" cy="3905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FBBC4-CFF1-4E63-8FD1-829A5B21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P-WKS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94EF4-9632-4294-9041-6BB64DE8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Continuous operational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15CE9-49B6-4568-AF6E-76B3A2A5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Authenticated structure, persistent navigation and high density.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166A4-EBA5-4691-BA72-7705B001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rPr>
              <a:t>P-MKT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9CDE5-8FE8-4A56-8D40-B4243F80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Presentation and conversion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F8CA7-5163-4CDB-BB27-699E7504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Public, narrative and action-oriented surface.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D82B64-A538-4691-9D9D-5A7198CC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EXECUTIVE SUMMARY VISUAL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1D1BF-54AA-4CBB-A67B-9FAE0D15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44254817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42000">
              <a:srgbClr val="F3FAF9"/>
            </a:gs>
            <a:gs pos="100000">
              <a:srgbClr val="DCEFEB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d0b4b07b34fe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BDEA6-D6DB-4509-A176-BC785ED3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A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396E0-99AB-40E7-B9DC-0A68DDB3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PART IV · PRODUCT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3BB0E-FB53-42DA-BD61-7DAB7B65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Architecture organises the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7FD31-C656-44FD-BA6E-43AD5198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Structure defines how people discover, use and extend the product.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33FB5-2DEA-4BC2-ADCA-39A4513A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1125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B"/>
          </a:solidFill>
          <a:ln xmlns:a="http://schemas.openxmlformats.org/drawingml/2006/main" w="0">
            <a:noFill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af9814a8b44e3"/>
          <a:stretch xmlns:a="http://schemas.openxmlformats.org/drawingml/2006/main"/>
        </p:blipFill>
        <p:spPr>
          <a:xfrm xmlns:a="http://schemas.openxmlformats.org/drawingml/2006/main">
            <a:off x="7686847" y="2190750"/>
            <a:ext cx="2628556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7194D-4E4A-4F50-8AF5-0F087F14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8B9C3-502D-4617-9DA8-3FB064EB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812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Navigation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F96FA-2890-41C9-A5D2-500FDE67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765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Clear routes and hierarchy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ADB7C-0745-4936-AC87-D61E63D1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94BFA-E30D-49A9-8BA7-B37A5A6E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55E7B-8566-4444-A6BF-0A16BB7A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Content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12A52-3D2A-441F-AE66-DCADF4C3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147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Visible layers and priorities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1F0E3-5EA0-45E0-940E-374A75F3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C5139F-3CEB-4253-A34E-46188EAC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30E81C-F667-4524-B5CE-CC0F5361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576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Accessibility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DAA33-6CDB-4603-BB88-86C2BF2F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529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Focus, semantics and return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9F8C7-6549-4206-971C-2BCBB693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521B2B-9F5F-4E91-9E4B-89F13416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958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A10C48-DF94-4108-8BEF-DA7D4934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958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BD9AFC-28E0-4F16-874C-4765F931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911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Permissions, data and business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2853A1-7313-4755-AAA0-7EA79EFD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4355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DF2940-7C3C-4792-98D6-84B78C3E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EXECUTIVE SUMMARY VISUAL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36982F-A548-4628-9DC9-697D9234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26144286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3FAF9"/>
            </a:gs>
            <a:gs pos="48000">
              <a:srgbClr val="E3F2F0"/>
            </a:gs>
            <a:gs pos="100000">
              <a:srgbClr val="BFDCD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6a62607d04ca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38043-7266-4B77-BF39-1AE305F1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A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491E6-A188-4006-AF74-5DFADE54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PART IV · PRODUCT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EB0ED-23C7-4E58-8504-DD556835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Shared patterns accelerate onboarding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A3892-B688-460E-8BB1-57E6F3D6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Common compositions let the product keep its own business logic.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55B83-97B3-46A2-8499-A5414C5F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1125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6F87B-608C-42DC-AA29-ECFB50BD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5048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D3DBD-1E71-40A7-95BE-F793C319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3C5A4-98F4-4928-8D96-1FE59DE5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669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48C27-2CDE-460D-B524-E26DA458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Sign in, recover and communicate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98B1D-8EC3-467B-8F81-1E373DF5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333625"/>
            <a:ext cx="5048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C0CD92-FD0C-442E-9DFC-D86C958D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5241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D52093-DC63-4193-9843-0E71948F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4669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Settings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8AADA-B283-4E95-85C9-C106BAD2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7432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Group preferences and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5739C-06C8-45D2-8CCB-439B9A12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5048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592EE-507C-4DA2-B5A1-6FC4B64E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FB95D9-5712-473B-8222-36BEA900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Upload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407ECF-2139-4C97-8963-771017A1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957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Separate selection and processing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F7EADF-D124-4955-A5AC-9486444E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286125"/>
            <a:ext cx="5048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706333-A0B3-4FC4-837A-86CDD5C9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766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DB1229-E008-4381-821E-0498ADAC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4194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47F536-AD5B-4D38-ABC8-DA13BDB2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6957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Show progress, state and actions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98E082-EA9C-4CD6-A9D0-66B33D7A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5048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BC9B96-2DBA-47D8-A46C-BE6962E9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9CD29A-0041-4218-B499-DDFCA04F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719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Bulk 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4D4198-444B-4048-BE65-8089E174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Act only after explicit selection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2BAFC6-97D6-4914-98D1-0B6BE84E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38625"/>
            <a:ext cx="5048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136B1B-F353-4410-9710-C71F5712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4291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516F30-D72D-40ED-B70E-1A997F3D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3719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Confirmation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4DD205-3E3F-487D-9A3A-D657E6BF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6482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Explain the consequence before destruction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95BD1B-C004-47E8-952C-688551B9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The composition is shared. Execution, state and data remain part of the product.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0A4E2D-8A8D-4024-94D9-BD9DB1B7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EXECUTIVE SUMMARY VISUAL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A6E9BB-1FEB-4038-B97B-460F4628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77545504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92C"/>
            </a:gs>
            <a:gs pos="52000">
              <a:srgbClr val="0B3046"/>
            </a:gs>
            <a:gs pos="100000">
              <a:srgbClr val="0F6B70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d6d4d2f5647d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3D756-AA52-4E84-BB46-61AAD356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C">
              <a:alpha val="78000"/>
            </a:srgbClr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335c3aed54fbb"/>
          <a:stretch xmlns:a="http://schemas.openxmlformats.org/drawingml/2006/main"/>
        </p:blipFill>
        <p:spPr>
          <a:xfrm xmlns:a="http://schemas.openxmlformats.org/drawingml/2006/main">
            <a:off x="644037" y="495300"/>
            <a:ext cx="2198077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172ED-EE1F-4425-809E-E9BF33F8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CC9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9CC9C6"/>
                </a:solidFill>
                <a:latin typeface="Helvetica Neue"/>
                <a:ea typeface="Helvetica Neue"/>
                <a:cs typeface="Helvetica Neue"/>
              </a:rPr>
              <a:t>ONBOARDING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15CB2-E297-4001-B61D-4CDFF44D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685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 ecosystem ready</a:t>
            </a:r>
          </a:p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to grow with you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16B19-7CE9-467C-B8D4-870BE002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9E9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D9E9E7"/>
                </a:solidFill>
                <a:latin typeface="Helvetica Neue"/>
                <a:ea typeface="Helvetica Neue"/>
                <a:cs typeface="Helvetica Neue"/>
              </a:rPr>
              <a:t>The client conversation starts with the product.</a:t>
            </a:r>
          </a:p>
          <a:p xmlns:a="http://schemas.openxmlformats.org/drawingml/2006/main">
            <a:pPr algn="l">
              <a:defRPr sz="1800" b="0" i="0">
                <a:solidFill>
                  <a:srgbClr val="D9E9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D9E9E7"/>
                </a:solidFill>
                <a:latin typeface="Helvetica Neue"/>
                <a:ea typeface="Helvetica Neue"/>
                <a:cs typeface="Helvetica Neue"/>
              </a:rPr>
              <a:t>Architecture gives every decision a clear place and reason.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020F2-5094-4494-9A74-E455CDE5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C3218-5C4E-4578-9F04-74566941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Understand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A7B95-B16F-497D-B799-386C7CA6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29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BD2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BBD2D1"/>
                </a:solidFill>
                <a:latin typeface="Helvetica Neue"/>
                <a:ea typeface="Helvetica Neue"/>
                <a:cs typeface="Helvetica Neue"/>
              </a:rPr>
              <a:t>Which product and surface the client needs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15E78-DEC0-4F2C-A05B-09278DE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572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77AF8-A387-4AE7-8C94-731FA451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524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Configure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E47CC-2D0D-4613-AA88-437C3B9D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829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BD2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BBD2D1"/>
                </a:solidFill>
                <a:latin typeface="Helvetica Neue"/>
                <a:ea typeface="Helvetica Neue"/>
                <a:cs typeface="Helvetica Neue"/>
              </a:rPr>
              <a:t>Which profile, level, theme and family fit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18D8B-71DC-4BF2-B105-A4DAC55A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72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4FCDE-149C-4840-B9D4-E2E434C9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24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Activate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18F27-616F-4797-9A3A-9393471E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829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BD2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BBD2D1"/>
                </a:solidFill>
                <a:latin typeface="Helvetica Neue"/>
                <a:ea typeface="Helvetica Neue"/>
                <a:cs typeface="Helvetica Neue"/>
              </a:rPr>
              <a:t>Which patterns and routes form the first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AFA82-0AB2-49EE-9E10-5925687A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ANCLORA GROUP · CLIENT ONBOARDING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3F640B-2D4F-474A-9E10-0F522C20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97101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2026-09-23T15:46:29.0100000Z</dcterms:created>
  <dcterms:modified xsi:type="dcterms:W3CDTF">2026-09-23T15:46:29.0100000Z</dcterms:modified>
</coreProperties>
</file>